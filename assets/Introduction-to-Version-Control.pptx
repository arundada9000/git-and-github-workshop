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: Why do you think Git has a staging area instead of committing directly?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command do you think developers use the most?
Ans : git 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you think happens if two people push changes at the same time?
merge conflicts.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8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97574"/>
            <a:ext cx="680370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 to Version Control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3500199"/>
            <a:ext cx="4244816" cy="2231708"/>
          </a:xfrm>
          <a:prstGeom prst="roundRect">
            <a:avLst>
              <a:gd name="adj" fmla="val 1274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5477" y="3697367"/>
            <a:ext cx="3729514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Problems Without Version Control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5477" y="4122777"/>
            <a:ext cx="3850481" cy="1411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history of changes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Difficult collaboration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of losing work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Confusion with file versions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192673" y="3500199"/>
            <a:ext cx="4244935" cy="2231708"/>
          </a:xfrm>
          <a:prstGeom prst="roundRect">
            <a:avLst>
              <a:gd name="adj" fmla="val 1274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89840" y="3697367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Real-World Examples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389840" y="4122777"/>
            <a:ext cx="3850600" cy="1411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document versions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collaboration issues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Breaking working code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way to revert mistakes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627156" y="3500199"/>
            <a:ext cx="4244816" cy="2231708"/>
          </a:xfrm>
          <a:prstGeom prst="roundRect">
            <a:avLst>
              <a:gd name="adj" fmla="val 1274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4323" y="3697367"/>
            <a:ext cx="2967395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Benefits of Version Control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24323" y="4122777"/>
            <a:ext cx="3850481" cy="1411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history tracking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Easy collaboration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 experimentation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travel to any version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619839"/>
            <a:ext cx="498883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History of Git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971550" y="1527691"/>
            <a:ext cx="22860" cy="5565577"/>
          </a:xfrm>
          <a:prstGeom prst="roundRect">
            <a:avLst>
              <a:gd name="adj" fmla="val 1243960"/>
            </a:avLst>
          </a:prstGeom>
          <a:solidFill>
            <a:srgbClr val="BACFDD"/>
          </a:solidFill>
          <a:ln/>
        </p:spPr>
      </p:sp>
      <p:sp>
        <p:nvSpPr>
          <p:cNvPr id="5" name="Shape 2"/>
          <p:cNvSpPr/>
          <p:nvPr/>
        </p:nvSpPr>
        <p:spPr>
          <a:xfrm>
            <a:off x="1161931" y="1729502"/>
            <a:ext cx="568643" cy="22860"/>
          </a:xfrm>
          <a:prstGeom prst="roundRect">
            <a:avLst>
              <a:gd name="adj" fmla="val 1243960"/>
            </a:avLst>
          </a:prstGeom>
          <a:solidFill>
            <a:srgbClr val="BACFDD"/>
          </a:solidFill>
          <a:ln/>
        </p:spPr>
      </p:sp>
      <p:sp>
        <p:nvSpPr>
          <p:cNvPr id="6" name="Shape 3"/>
          <p:cNvSpPr/>
          <p:nvPr/>
        </p:nvSpPr>
        <p:spPr>
          <a:xfrm>
            <a:off x="758309" y="1527691"/>
            <a:ext cx="426482" cy="426482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1888" y="1553885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1919407" y="1592818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2005 - The Problem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919407" y="2018228"/>
            <a:ext cx="6466284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kernel development relied on the proprietary version control system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BitKeeper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but in 2005 the free license for Linux developers was revoked after a licensing dispute, forcing the project to find an alternative.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161931" y="3812143"/>
            <a:ext cx="568643" cy="22860"/>
          </a:xfrm>
          <a:prstGeom prst="roundRect">
            <a:avLst>
              <a:gd name="adj" fmla="val 1243960"/>
            </a:avLst>
          </a:prstGeom>
          <a:solidFill>
            <a:srgbClr val="BACFDD"/>
          </a:solidFill>
          <a:ln/>
        </p:spPr>
      </p:sp>
      <p:sp>
        <p:nvSpPr>
          <p:cNvPr id="11" name="Shape 8"/>
          <p:cNvSpPr/>
          <p:nvPr/>
        </p:nvSpPr>
        <p:spPr>
          <a:xfrm>
            <a:off x="758309" y="3610332"/>
            <a:ext cx="426482" cy="426482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1888" y="3636526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1919407" y="3675459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April 2005 - Creation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919407" y="4100870"/>
            <a:ext cx="6466284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April 2005,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Linus Torvalds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created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manage Linux kernel development. The first working version was built extremely quicklywithin about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days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continued evolving over the following months.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161931" y="5894784"/>
            <a:ext cx="568643" cy="22860"/>
          </a:xfrm>
          <a:prstGeom prst="roundRect">
            <a:avLst>
              <a:gd name="adj" fmla="val 1243960"/>
            </a:avLst>
          </a:prstGeom>
          <a:solidFill>
            <a:srgbClr val="BACFDD"/>
          </a:solidFill>
          <a:ln/>
        </p:spPr>
      </p:sp>
      <p:sp>
        <p:nvSpPr>
          <p:cNvPr id="16" name="Shape 13"/>
          <p:cNvSpPr/>
          <p:nvPr/>
        </p:nvSpPr>
        <p:spPr>
          <a:xfrm>
            <a:off x="758309" y="5692973"/>
            <a:ext cx="426482" cy="426482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1888" y="5719167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1919407" y="5758101"/>
            <a:ext cx="2533412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2008-Present - Growth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919407" y="6183511"/>
            <a:ext cx="6466284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Since the late 2000s, Git has become the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widely used version control system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powering millions of projects and platforms like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GitLab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58309" y="7306508"/>
            <a:ext cx="76273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was created because the Linux team suddenly lost their version control tool.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546" y="535424"/>
            <a:ext cx="4925020" cy="615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Fundamentals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8546" y="1520547"/>
            <a:ext cx="467797" cy="4677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8546" y="2219206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Repository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48546" y="2637830"/>
            <a:ext cx="645116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repository (repo) is a folder that stores your project files and the complete history of all changes.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0572" y="1520547"/>
            <a:ext cx="467797" cy="4677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0572" y="2219206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Commit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430572" y="2637830"/>
            <a:ext cx="645128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saved snapshot of your project at a specific point in time with a message describing the changes.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8546" y="3602355"/>
            <a:ext cx="467797" cy="4677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8546" y="4301014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Branch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748546" y="4719638"/>
            <a:ext cx="645116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separate version of the project used to develop features without affecting the main code.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0572" y="3602355"/>
            <a:ext cx="467797" cy="4677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0572" y="4301014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Merge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430572" y="4719638"/>
            <a:ext cx="645128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changes from one branch into another (usually into the main branch).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8546" y="5684163"/>
            <a:ext cx="467797" cy="46779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8546" y="6382822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Remote Repository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748546" y="6801445"/>
            <a:ext cx="645116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copy of your repository stored on a server (e.g., GitHub) for collaboration and backup.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30572" y="5684163"/>
            <a:ext cx="467797" cy="46779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30572" y="6382822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Local vs Remote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7430572" y="6801445"/>
            <a:ext cx="6451283" cy="892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Local: repository on your computer.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Remote: repository stored online.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push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pull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synchronize them.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544360"/>
            <a:ext cx="7089577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Git Works: The Three Areas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709" y="2452211"/>
            <a:ext cx="947857" cy="14110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82113" y="2641759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Working Directory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382113" y="3067169"/>
            <a:ext cx="6489978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project files on your computer that you can create, edit, or delete.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709" y="3863221"/>
            <a:ext cx="947857" cy="141101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82113" y="4052768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Staging Area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7382113" y="4478179"/>
            <a:ext cx="6489978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place where you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and prepare changes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before creating a commit.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5274231"/>
            <a:ext cx="947857" cy="14110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82113" y="5463778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Repository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382113" y="5889188"/>
            <a:ext cx="6489978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database that stores all commits and the complete project history.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72766"/>
            <a:ext cx="498883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Installing Git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2175391"/>
            <a:ext cx="189548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474714"/>
            <a:ext cx="6462117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2615208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Download Git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58309" y="3040618"/>
            <a:ext cx="6462117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Visit git-scm.com and download the appropriate installer for your operating system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09974" y="2175391"/>
            <a:ext cx="189548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974" y="2474714"/>
            <a:ext cx="6462117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09974" y="2615208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Run Installer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7409974" y="3040618"/>
            <a:ext cx="6462117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 the installation wizard, keeping default settings for most options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58309" y="3978831"/>
            <a:ext cx="189548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4259223"/>
            <a:ext cx="6462117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8309" y="4418648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Verify Installation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758309" y="4844058"/>
            <a:ext cx="646211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terminal and run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confirm Git is installed.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58309" y="5268635"/>
            <a:ext cx="646211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Git is installed correctly, it will show the installed version.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409974" y="3978831"/>
            <a:ext cx="189548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4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9974" y="4259223"/>
            <a:ext cx="6462117" cy="228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9974" y="4418648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Initial Configuration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7409974" y="4844058"/>
            <a:ext cx="646211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config --global user . name "Arun " 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409974" y="5261015"/>
            <a:ext cx="646211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config --global user . email "arun@neupane.com"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409974" y="5677972"/>
            <a:ext cx="646211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configuration: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409974" y="6094928"/>
            <a:ext cx="646211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config --list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8309" y="6753582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uses this information to label your commits so collaborators know who made each change.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1018" y="799981"/>
            <a:ext cx="2668191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Essential Git Commands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3381018" y="1206460"/>
            <a:ext cx="7868245" cy="940832"/>
          </a:xfrm>
          <a:prstGeom prst="roundRect">
            <a:avLst>
              <a:gd name="adj" fmla="val 15113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96258" y="1221700"/>
            <a:ext cx="379095" cy="910352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10915" y="1605796"/>
            <a:ext cx="142161" cy="14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22740" y="1316474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init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22740" y="1500783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Initializes a new Git repository by creating a hidden 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folder that tracks project history.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3822740" y="1667708"/>
            <a:ext cx="7316510" cy="369570"/>
          </a:xfrm>
          <a:prstGeom prst="roundRect">
            <a:avLst>
              <a:gd name="adj" fmla="val 38473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3818096" y="1667708"/>
            <a:ext cx="7325797" cy="369570"/>
          </a:xfrm>
          <a:prstGeom prst="roundRect">
            <a:avLst>
              <a:gd name="adj" fmla="val 3847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3912870" y="1738789"/>
            <a:ext cx="7136249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.git folder for tracking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381018" y="2194679"/>
            <a:ext cx="7868245" cy="940832"/>
          </a:xfrm>
          <a:prstGeom prst="roundRect">
            <a:avLst>
              <a:gd name="adj" fmla="val 15113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96258" y="2209919"/>
            <a:ext cx="379095" cy="910352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0915" y="2594015"/>
            <a:ext cx="142161" cy="14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22740" y="2304693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clone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822740" y="2489002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Downloads a remote repository and creates a local working copy.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3822740" y="2655927"/>
            <a:ext cx="7316510" cy="369570"/>
          </a:xfrm>
          <a:prstGeom prst="roundRect">
            <a:avLst>
              <a:gd name="adj" fmla="val 38473"/>
            </a:avLst>
          </a:prstGeom>
          <a:solidFill>
            <a:srgbClr val="F2F2F2"/>
          </a:solidFill>
          <a:ln/>
        </p:spPr>
      </p:sp>
      <p:sp>
        <p:nvSpPr>
          <p:cNvPr id="17" name="Shape 13"/>
          <p:cNvSpPr/>
          <p:nvPr/>
        </p:nvSpPr>
        <p:spPr>
          <a:xfrm>
            <a:off x="3818096" y="2655927"/>
            <a:ext cx="7325797" cy="369570"/>
          </a:xfrm>
          <a:prstGeom prst="roundRect">
            <a:avLst>
              <a:gd name="adj" fmla="val 3847"/>
            </a:avLst>
          </a:prstGeom>
          <a:solidFill>
            <a:srgbClr val="F2F2F2"/>
          </a:solidFill>
          <a:ln/>
        </p:spPr>
      </p:sp>
      <p:sp>
        <p:nvSpPr>
          <p:cNvPr id="18" name="Text 14"/>
          <p:cNvSpPr/>
          <p:nvPr/>
        </p:nvSpPr>
        <p:spPr>
          <a:xfrm>
            <a:off x="3912870" y="2727008"/>
            <a:ext cx="7136249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https://github.com/user/repo.git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Downloads entire project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3381018" y="3182898"/>
            <a:ext cx="7868245" cy="940832"/>
          </a:xfrm>
          <a:prstGeom prst="roundRect">
            <a:avLst>
              <a:gd name="adj" fmla="val 15113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396258" y="3198138"/>
            <a:ext cx="379095" cy="910352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0915" y="3582233"/>
            <a:ext cx="142161" cy="1421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22740" y="3292912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status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3822740" y="3477220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Shows the current state of your working directory and staging area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3822740" y="3644146"/>
            <a:ext cx="7316510" cy="369570"/>
          </a:xfrm>
          <a:prstGeom prst="roundRect">
            <a:avLst>
              <a:gd name="adj" fmla="val 38473"/>
            </a:avLst>
          </a:prstGeom>
          <a:solidFill>
            <a:srgbClr val="F2F2F2"/>
          </a:solidFill>
          <a:ln/>
        </p:spPr>
      </p:sp>
      <p:sp>
        <p:nvSpPr>
          <p:cNvPr id="25" name="Shape 20"/>
          <p:cNvSpPr/>
          <p:nvPr/>
        </p:nvSpPr>
        <p:spPr>
          <a:xfrm>
            <a:off x="3818096" y="3644146"/>
            <a:ext cx="7325797" cy="369570"/>
          </a:xfrm>
          <a:prstGeom prst="roundRect">
            <a:avLst>
              <a:gd name="adj" fmla="val 3847"/>
            </a:avLst>
          </a:prstGeom>
          <a:solidFill>
            <a:srgbClr val="F2F2F2"/>
          </a:solidFill>
          <a:ln/>
        </p:spPr>
      </p:sp>
      <p:sp>
        <p:nvSpPr>
          <p:cNvPr id="26" name="Text 21"/>
          <p:cNvSpPr/>
          <p:nvPr/>
        </p:nvSpPr>
        <p:spPr>
          <a:xfrm>
            <a:off x="3912870" y="3715226"/>
            <a:ext cx="7136249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Lists modified, staged, and untracked files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3381018" y="4171117"/>
            <a:ext cx="7868245" cy="1054537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396258" y="4186357"/>
            <a:ext cx="379095" cy="1024057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10915" y="4627245"/>
            <a:ext cx="142161" cy="14216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822740" y="4281130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add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3822740" y="4465439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Adds changes to the staging area for the next commit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3822740" y="4632365"/>
            <a:ext cx="7316510" cy="483275"/>
          </a:xfrm>
          <a:prstGeom prst="roundRect">
            <a:avLst>
              <a:gd name="adj" fmla="val 29421"/>
            </a:avLst>
          </a:prstGeom>
          <a:solidFill>
            <a:srgbClr val="F2F2F2"/>
          </a:solidFill>
          <a:ln/>
        </p:spPr>
      </p:sp>
      <p:sp>
        <p:nvSpPr>
          <p:cNvPr id="33" name="Shape 27"/>
          <p:cNvSpPr/>
          <p:nvPr/>
        </p:nvSpPr>
        <p:spPr>
          <a:xfrm>
            <a:off x="3818096" y="4632365"/>
            <a:ext cx="7325797" cy="483275"/>
          </a:xfrm>
          <a:prstGeom prst="roundRect">
            <a:avLst>
              <a:gd name="adj" fmla="val 2942"/>
            </a:avLst>
          </a:prstGeom>
          <a:solidFill>
            <a:srgbClr val="F2F2F2"/>
          </a:solidFill>
          <a:ln/>
        </p:spPr>
      </p:sp>
      <p:sp>
        <p:nvSpPr>
          <p:cNvPr id="34" name="Text 28"/>
          <p:cNvSpPr/>
          <p:nvPr/>
        </p:nvSpPr>
        <p:spPr>
          <a:xfrm>
            <a:off x="3912870" y="4703445"/>
            <a:ext cx="7136249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file.txt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stages all changes in the current directory, including: new files, modified files, deletions</a:t>
            </a:r>
            <a:endParaRPr lang="en-US" sz="700" dirty="0"/>
          </a:p>
        </p:txBody>
      </p:sp>
      <p:sp>
        <p:nvSpPr>
          <p:cNvPr id="35" name="Shape 29"/>
          <p:cNvSpPr/>
          <p:nvPr/>
        </p:nvSpPr>
        <p:spPr>
          <a:xfrm>
            <a:off x="3381018" y="5273040"/>
            <a:ext cx="7868245" cy="1054537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396258" y="5288280"/>
            <a:ext cx="379095" cy="1024057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10915" y="5729168"/>
            <a:ext cx="142161" cy="142161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822740" y="5383054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commit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3822740" y="5567363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Saves a snapshot of staged changes with a descriptive message</a:t>
            </a:r>
            <a:endParaRPr lang="en-US" sz="700" dirty="0"/>
          </a:p>
        </p:txBody>
      </p:sp>
      <p:sp>
        <p:nvSpPr>
          <p:cNvPr id="40" name="Shape 33"/>
          <p:cNvSpPr/>
          <p:nvPr/>
        </p:nvSpPr>
        <p:spPr>
          <a:xfrm>
            <a:off x="3822740" y="5734288"/>
            <a:ext cx="7316510" cy="483275"/>
          </a:xfrm>
          <a:prstGeom prst="roundRect">
            <a:avLst>
              <a:gd name="adj" fmla="val 29421"/>
            </a:avLst>
          </a:prstGeom>
          <a:solidFill>
            <a:srgbClr val="F2F2F2"/>
          </a:solidFill>
          <a:ln/>
        </p:spPr>
      </p:sp>
      <p:sp>
        <p:nvSpPr>
          <p:cNvPr id="41" name="Shape 34"/>
          <p:cNvSpPr/>
          <p:nvPr/>
        </p:nvSpPr>
        <p:spPr>
          <a:xfrm>
            <a:off x="3818096" y="5734288"/>
            <a:ext cx="7325797" cy="483275"/>
          </a:xfrm>
          <a:prstGeom prst="roundRect">
            <a:avLst>
              <a:gd name="adj" fmla="val 2942"/>
            </a:avLst>
          </a:prstGeom>
          <a:solidFill>
            <a:srgbClr val="F2F2F2"/>
          </a:solidFill>
          <a:ln/>
        </p:spPr>
      </p:sp>
      <p:sp>
        <p:nvSpPr>
          <p:cNvPr id="42" name="Text 35"/>
          <p:cNvSpPr/>
          <p:nvPr/>
        </p:nvSpPr>
        <p:spPr>
          <a:xfrm>
            <a:off x="3912870" y="5805368"/>
            <a:ext cx="7136249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new feature"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permanent record of changes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Commits are stored in the repository history.</a:t>
            </a:r>
            <a:endParaRPr lang="en-US" sz="700" dirty="0"/>
          </a:p>
        </p:txBody>
      </p:sp>
      <p:sp>
        <p:nvSpPr>
          <p:cNvPr id="43" name="Shape 36"/>
          <p:cNvSpPr/>
          <p:nvPr/>
        </p:nvSpPr>
        <p:spPr>
          <a:xfrm>
            <a:off x="3381018" y="6374963"/>
            <a:ext cx="7868245" cy="1054537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3396258" y="6390203"/>
            <a:ext cx="379095" cy="1024057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10915" y="6831092"/>
            <a:ext cx="142161" cy="142161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3822740" y="6484977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log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3822740" y="6669286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Displays the commit history with messages, authors, and dates</a:t>
            </a:r>
            <a:endParaRPr lang="en-US" sz="700" dirty="0"/>
          </a:p>
        </p:txBody>
      </p:sp>
      <p:sp>
        <p:nvSpPr>
          <p:cNvPr id="48" name="Shape 40"/>
          <p:cNvSpPr/>
          <p:nvPr/>
        </p:nvSpPr>
        <p:spPr>
          <a:xfrm>
            <a:off x="3822740" y="6836212"/>
            <a:ext cx="7316510" cy="483275"/>
          </a:xfrm>
          <a:prstGeom prst="roundRect">
            <a:avLst>
              <a:gd name="adj" fmla="val 29421"/>
            </a:avLst>
          </a:prstGeom>
          <a:solidFill>
            <a:srgbClr val="F2F2F2"/>
          </a:solidFill>
          <a:ln/>
        </p:spPr>
      </p:sp>
      <p:sp>
        <p:nvSpPr>
          <p:cNvPr id="49" name="Shape 41"/>
          <p:cNvSpPr/>
          <p:nvPr/>
        </p:nvSpPr>
        <p:spPr>
          <a:xfrm>
            <a:off x="3818096" y="6836212"/>
            <a:ext cx="7325797" cy="483275"/>
          </a:xfrm>
          <a:prstGeom prst="roundRect">
            <a:avLst>
              <a:gd name="adj" fmla="val 2942"/>
            </a:avLst>
          </a:prstGeom>
          <a:solidFill>
            <a:srgbClr val="F2F2F2"/>
          </a:solidFill>
          <a:ln/>
        </p:spPr>
      </p:sp>
      <p:sp>
        <p:nvSpPr>
          <p:cNvPr id="50" name="Text 42"/>
          <p:cNvSpPr/>
          <p:nvPr/>
        </p:nvSpPr>
        <p:spPr>
          <a:xfrm>
            <a:off x="3912870" y="6907292"/>
            <a:ext cx="7136249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Shows all commits from newest to oldest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1018" y="729020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More Git Commands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3381018" y="1135499"/>
            <a:ext cx="7868245" cy="940832"/>
          </a:xfrm>
          <a:prstGeom prst="roundRect">
            <a:avLst>
              <a:gd name="adj" fmla="val 15113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96258" y="1150739"/>
            <a:ext cx="379095" cy="910352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10915" y="1534835"/>
            <a:ext cx="142161" cy="14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22740" y="1245513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diff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22740" y="1429822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Shows the differences between file versions that have not yet been committed.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3822740" y="1596747"/>
            <a:ext cx="7316510" cy="369570"/>
          </a:xfrm>
          <a:prstGeom prst="roundRect">
            <a:avLst>
              <a:gd name="adj" fmla="val 38473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3818096" y="1596747"/>
            <a:ext cx="7325797" cy="369570"/>
          </a:xfrm>
          <a:prstGeom prst="roundRect">
            <a:avLst>
              <a:gd name="adj" fmla="val 3847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3912870" y="1667828"/>
            <a:ext cx="7136249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Displays line-by-line changes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381018" y="2123718"/>
            <a:ext cx="7868245" cy="1054537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96258" y="2138958"/>
            <a:ext cx="379095" cy="1024057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0915" y="2579846"/>
            <a:ext cx="142161" cy="14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22740" y="2233732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branch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822740" y="2418040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Lists, creates, or deletes branches in your repository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3822740" y="2584966"/>
            <a:ext cx="7316510" cy="483275"/>
          </a:xfrm>
          <a:prstGeom prst="roundRect">
            <a:avLst>
              <a:gd name="adj" fmla="val 29421"/>
            </a:avLst>
          </a:prstGeom>
          <a:solidFill>
            <a:srgbClr val="F2F2F2"/>
          </a:solidFill>
          <a:ln/>
        </p:spPr>
      </p:sp>
      <p:sp>
        <p:nvSpPr>
          <p:cNvPr id="17" name="Shape 13"/>
          <p:cNvSpPr/>
          <p:nvPr/>
        </p:nvSpPr>
        <p:spPr>
          <a:xfrm>
            <a:off x="3818096" y="2584966"/>
            <a:ext cx="7325797" cy="483275"/>
          </a:xfrm>
          <a:prstGeom prst="roundRect">
            <a:avLst>
              <a:gd name="adj" fmla="val 2942"/>
            </a:avLst>
          </a:prstGeom>
          <a:solidFill>
            <a:srgbClr val="F2F2F2"/>
          </a:solidFill>
          <a:ln/>
        </p:spPr>
      </p:sp>
      <p:sp>
        <p:nvSpPr>
          <p:cNvPr id="18" name="Text 14"/>
          <p:cNvSpPr/>
          <p:nvPr/>
        </p:nvSpPr>
        <p:spPr>
          <a:xfrm>
            <a:off x="3912870" y="2656046"/>
            <a:ext cx="7136249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-&gt; list branches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new-feature -&gt; create new branch with name new-feature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new-feature -&gt; Deletes a branch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3381018" y="3225641"/>
            <a:ext cx="7868245" cy="1054537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396258" y="3240881"/>
            <a:ext cx="379095" cy="1024057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0915" y="3681770"/>
            <a:ext cx="142161" cy="1421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22740" y="3335655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checkout / switch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3822740" y="3519964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(older command) and 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(newer command) are used to change branches.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3822740" y="3686889"/>
            <a:ext cx="7316510" cy="483275"/>
          </a:xfrm>
          <a:prstGeom prst="roundRect">
            <a:avLst>
              <a:gd name="adj" fmla="val 29421"/>
            </a:avLst>
          </a:prstGeom>
          <a:solidFill>
            <a:srgbClr val="F2F2F2"/>
          </a:solidFill>
          <a:ln/>
        </p:spPr>
      </p:sp>
      <p:sp>
        <p:nvSpPr>
          <p:cNvPr id="25" name="Shape 20"/>
          <p:cNvSpPr/>
          <p:nvPr/>
        </p:nvSpPr>
        <p:spPr>
          <a:xfrm>
            <a:off x="3818096" y="3686889"/>
            <a:ext cx="7325797" cy="483275"/>
          </a:xfrm>
          <a:prstGeom prst="roundRect">
            <a:avLst>
              <a:gd name="adj" fmla="val 2942"/>
            </a:avLst>
          </a:prstGeom>
          <a:solidFill>
            <a:srgbClr val="F2F2F2"/>
          </a:solidFill>
          <a:ln/>
        </p:spPr>
      </p:sp>
      <p:sp>
        <p:nvSpPr>
          <p:cNvPr id="26" name="Text 21"/>
          <p:cNvSpPr/>
          <p:nvPr/>
        </p:nvSpPr>
        <p:spPr>
          <a:xfrm>
            <a:off x="3912870" y="3757970"/>
            <a:ext cx="7136249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Changes to main branch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3381018" y="4327565"/>
            <a:ext cx="7868245" cy="1054537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396258" y="4342805"/>
            <a:ext cx="379095" cy="1024057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10915" y="4783693"/>
            <a:ext cx="142161" cy="14216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822740" y="4437578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merge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3822740" y="4621887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changes from one branch into the current branch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3822740" y="4788813"/>
            <a:ext cx="7316510" cy="483275"/>
          </a:xfrm>
          <a:prstGeom prst="roundRect">
            <a:avLst>
              <a:gd name="adj" fmla="val 29421"/>
            </a:avLst>
          </a:prstGeom>
          <a:solidFill>
            <a:srgbClr val="F2F2F2"/>
          </a:solidFill>
          <a:ln/>
        </p:spPr>
      </p:sp>
      <p:sp>
        <p:nvSpPr>
          <p:cNvPr id="33" name="Shape 27"/>
          <p:cNvSpPr/>
          <p:nvPr/>
        </p:nvSpPr>
        <p:spPr>
          <a:xfrm>
            <a:off x="3818096" y="4788813"/>
            <a:ext cx="7325797" cy="483275"/>
          </a:xfrm>
          <a:prstGeom prst="roundRect">
            <a:avLst>
              <a:gd name="adj" fmla="val 2942"/>
            </a:avLst>
          </a:prstGeom>
          <a:solidFill>
            <a:srgbClr val="F2F2F2"/>
          </a:solidFill>
          <a:ln/>
        </p:spPr>
      </p:sp>
      <p:sp>
        <p:nvSpPr>
          <p:cNvPr id="34" name="Text 28"/>
          <p:cNvSpPr/>
          <p:nvPr/>
        </p:nvSpPr>
        <p:spPr>
          <a:xfrm>
            <a:off x="3912870" y="4859893"/>
            <a:ext cx="7136249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new-feature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Merges feature into main</a:t>
            </a:r>
            <a:endParaRPr lang="en-US" sz="700" dirty="0"/>
          </a:p>
        </p:txBody>
      </p:sp>
      <p:sp>
        <p:nvSpPr>
          <p:cNvPr id="35" name="Shape 29"/>
          <p:cNvSpPr/>
          <p:nvPr/>
        </p:nvSpPr>
        <p:spPr>
          <a:xfrm>
            <a:off x="3381018" y="5429488"/>
            <a:ext cx="7868245" cy="1082873"/>
          </a:xfrm>
          <a:prstGeom prst="roundRect">
            <a:avLst>
              <a:gd name="adj" fmla="val 13130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396258" y="5444728"/>
            <a:ext cx="379095" cy="1052393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10915" y="5899785"/>
            <a:ext cx="142161" cy="142161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822740" y="5539502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pull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3822740" y="5723811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Downloads changes from remote and merges them into your local branch</a:t>
            </a:r>
            <a:endParaRPr lang="en-US" sz="700" dirty="0"/>
          </a:p>
        </p:txBody>
      </p:sp>
      <p:sp>
        <p:nvSpPr>
          <p:cNvPr id="40" name="Text 33"/>
          <p:cNvSpPr/>
          <p:nvPr/>
        </p:nvSpPr>
        <p:spPr>
          <a:xfrm>
            <a:off x="3822740" y="5865852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= </a:t>
            </a:r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fetch + git merge</a:t>
            </a:r>
            <a:endParaRPr lang="en-US" sz="700" dirty="0"/>
          </a:p>
        </p:txBody>
      </p:sp>
      <p:sp>
        <p:nvSpPr>
          <p:cNvPr id="41" name="Shape 34"/>
          <p:cNvSpPr/>
          <p:nvPr/>
        </p:nvSpPr>
        <p:spPr>
          <a:xfrm>
            <a:off x="3822740" y="6032778"/>
            <a:ext cx="7316510" cy="369570"/>
          </a:xfrm>
          <a:prstGeom prst="roundRect">
            <a:avLst>
              <a:gd name="adj" fmla="val 38473"/>
            </a:avLst>
          </a:prstGeom>
          <a:solidFill>
            <a:srgbClr val="F2F2F2"/>
          </a:solidFill>
          <a:ln/>
        </p:spPr>
      </p:sp>
      <p:sp>
        <p:nvSpPr>
          <p:cNvPr id="42" name="Shape 35"/>
          <p:cNvSpPr/>
          <p:nvPr/>
        </p:nvSpPr>
        <p:spPr>
          <a:xfrm>
            <a:off x="3818096" y="6032778"/>
            <a:ext cx="7325797" cy="369570"/>
          </a:xfrm>
          <a:prstGeom prst="roundRect">
            <a:avLst>
              <a:gd name="adj" fmla="val 3847"/>
            </a:avLst>
          </a:prstGeom>
          <a:solidFill>
            <a:srgbClr val="F2F2F2"/>
          </a:solidFill>
          <a:ln/>
        </p:spPr>
      </p:sp>
      <p:sp>
        <p:nvSpPr>
          <p:cNvPr id="43" name="Text 36"/>
          <p:cNvSpPr/>
          <p:nvPr/>
        </p:nvSpPr>
        <p:spPr>
          <a:xfrm>
            <a:off x="3912870" y="6103858"/>
            <a:ext cx="7136249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Fetches and merges remote changes</a:t>
            </a:r>
            <a:endParaRPr lang="en-US" sz="700" dirty="0"/>
          </a:p>
        </p:txBody>
      </p:sp>
      <p:sp>
        <p:nvSpPr>
          <p:cNvPr id="44" name="Shape 37"/>
          <p:cNvSpPr/>
          <p:nvPr/>
        </p:nvSpPr>
        <p:spPr>
          <a:xfrm>
            <a:off x="3381018" y="6559748"/>
            <a:ext cx="7868245" cy="940832"/>
          </a:xfrm>
          <a:prstGeom prst="roundRect">
            <a:avLst>
              <a:gd name="adj" fmla="val 15113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3396258" y="6574988"/>
            <a:ext cx="379095" cy="910352"/>
          </a:xfrm>
          <a:prstGeom prst="roundRect">
            <a:avLst>
              <a:gd name="adj" fmla="val 32682"/>
            </a:avLst>
          </a:prstGeom>
          <a:solidFill>
            <a:srgbClr val="D4E9F7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10915" y="6959084"/>
            <a:ext cx="142161" cy="142161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3822740" y="6669762"/>
            <a:ext cx="124718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push</a:t>
            </a:r>
            <a:endParaRPr lang="en-US" sz="950" dirty="0"/>
          </a:p>
        </p:txBody>
      </p:sp>
      <p:sp>
        <p:nvSpPr>
          <p:cNvPr id="48" name="Text 40"/>
          <p:cNvSpPr/>
          <p:nvPr/>
        </p:nvSpPr>
        <p:spPr>
          <a:xfrm>
            <a:off x="3822740" y="6854071"/>
            <a:ext cx="7316510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Uploads your local commits to the remote repository</a:t>
            </a:r>
            <a:endParaRPr lang="en-US" sz="700" dirty="0"/>
          </a:p>
        </p:txBody>
      </p:sp>
      <p:sp>
        <p:nvSpPr>
          <p:cNvPr id="49" name="Shape 41"/>
          <p:cNvSpPr/>
          <p:nvPr/>
        </p:nvSpPr>
        <p:spPr>
          <a:xfrm>
            <a:off x="3822740" y="7020997"/>
            <a:ext cx="7316510" cy="369570"/>
          </a:xfrm>
          <a:prstGeom prst="roundRect">
            <a:avLst>
              <a:gd name="adj" fmla="val 38473"/>
            </a:avLst>
          </a:prstGeom>
          <a:solidFill>
            <a:srgbClr val="F2F2F2"/>
          </a:solidFill>
          <a:ln/>
        </p:spPr>
      </p:sp>
      <p:sp>
        <p:nvSpPr>
          <p:cNvPr id="50" name="Shape 42"/>
          <p:cNvSpPr/>
          <p:nvPr/>
        </p:nvSpPr>
        <p:spPr>
          <a:xfrm>
            <a:off x="3818096" y="7020997"/>
            <a:ext cx="7325797" cy="369570"/>
          </a:xfrm>
          <a:prstGeom prst="roundRect">
            <a:avLst>
              <a:gd name="adj" fmla="val 3847"/>
            </a:avLst>
          </a:prstGeom>
          <a:solidFill>
            <a:srgbClr val="F2F2F2"/>
          </a:solidFill>
          <a:ln/>
        </p:spPr>
      </p:sp>
      <p:sp>
        <p:nvSpPr>
          <p:cNvPr id="51" name="Text 43"/>
          <p:cNvSpPr/>
          <p:nvPr/>
        </p:nvSpPr>
        <p:spPr>
          <a:xfrm>
            <a:off x="3912870" y="7092077"/>
            <a:ext cx="7136249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70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Sends commits to remote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590" y="525899"/>
            <a:ext cx="4183261" cy="522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Typical Git Workflow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90" y="1315403"/>
            <a:ext cx="476845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7666" y="1474351"/>
            <a:ext cx="209157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Clone Repository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327666" y="1815703"/>
            <a:ext cx="12585025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a fresh copy of the project from remote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53" y="2402324"/>
            <a:ext cx="476845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66029" y="2561273"/>
            <a:ext cx="209157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Create Feature Branch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66029" y="2902625"/>
            <a:ext cx="12346662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a new branch for your work to keep main stable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435" y="3489246"/>
            <a:ext cx="476845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04511" y="3648194"/>
            <a:ext cx="209157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Make Changes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804511" y="3989546"/>
            <a:ext cx="12108180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 files and test your modifications in the working directory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917" y="4576167"/>
            <a:ext cx="476845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42993" y="4735116"/>
            <a:ext cx="209157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Stage Changes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2042993" y="5076468"/>
            <a:ext cx="11869698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your modifications to the staging area with git add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435" y="5663089"/>
            <a:ext cx="476845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04511" y="5822037"/>
            <a:ext cx="209157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Commit Changes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804511" y="6163389"/>
            <a:ext cx="12108180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 a snapshot with a clear message describing what you did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953" y="6750010"/>
            <a:ext cx="476845" cy="1143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566029" y="6908959"/>
            <a:ext cx="209157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Push to Remote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1566029" y="7250311"/>
            <a:ext cx="12346662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your commits so others can access your work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381601"/>
            <a:ext cx="498883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Collaboration with Git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44709" y="2289453"/>
            <a:ext cx="3718917" cy="2487692"/>
          </a:xfrm>
          <a:prstGeom prst="roundRect">
            <a:avLst>
              <a:gd name="adj" fmla="val 1143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877" y="2486620"/>
            <a:ext cx="568643" cy="56864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8206" y="2642949"/>
            <a:ext cx="255865" cy="25586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41877" y="3244810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Remote Repositories</a:t>
            </a:r>
            <a:endParaRPr lang="en-US" sz="1950" dirty="0"/>
          </a:p>
        </p:txBody>
      </p:sp>
      <p:sp>
        <p:nvSpPr>
          <p:cNvPr id="8" name="Text 3"/>
          <p:cNvSpPr/>
          <p:nvPr/>
        </p:nvSpPr>
        <p:spPr>
          <a:xfrm>
            <a:off x="6441877" y="3670221"/>
            <a:ext cx="33245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 locations like GitHub, GitLab, or Bitbucket store your code in the cloud</a:t>
            </a:r>
            <a:endParaRPr lang="en-US" sz="1450" dirty="0"/>
          </a:p>
        </p:txBody>
      </p:sp>
      <p:sp>
        <p:nvSpPr>
          <p:cNvPr id="9" name="Shape 4"/>
          <p:cNvSpPr/>
          <p:nvPr/>
        </p:nvSpPr>
        <p:spPr>
          <a:xfrm>
            <a:off x="10153174" y="2289453"/>
            <a:ext cx="3718917" cy="2487692"/>
          </a:xfrm>
          <a:prstGeom prst="roundRect">
            <a:avLst>
              <a:gd name="adj" fmla="val 1143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341" y="2486620"/>
            <a:ext cx="568643" cy="56864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6670" y="2642949"/>
            <a:ext cx="255865" cy="25586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350341" y="3244810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git pull</a:t>
            </a:r>
            <a:endParaRPr lang="en-US" sz="1950" dirty="0"/>
          </a:p>
        </p:txBody>
      </p:sp>
      <p:sp>
        <p:nvSpPr>
          <p:cNvPr id="13" name="Text 6"/>
          <p:cNvSpPr/>
          <p:nvPr/>
        </p:nvSpPr>
        <p:spPr>
          <a:xfrm>
            <a:off x="10350341" y="3670221"/>
            <a:ext cx="33245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pull latest changes before starting work to avoid conflicts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6244709" y="4966692"/>
            <a:ext cx="7627382" cy="1881188"/>
          </a:xfrm>
          <a:prstGeom prst="roundRect">
            <a:avLst>
              <a:gd name="adj" fmla="val 1511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877" y="5163860"/>
            <a:ext cx="568643" cy="568643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8206" y="5320189"/>
            <a:ext cx="255865" cy="25586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441877" y="5922050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Merge Conflicts</a:t>
            </a:r>
            <a:endParaRPr lang="en-US" sz="1950" dirty="0"/>
          </a:p>
        </p:txBody>
      </p:sp>
      <p:sp>
        <p:nvSpPr>
          <p:cNvPr id="18" name="Text 9"/>
          <p:cNvSpPr/>
          <p:nvPr/>
        </p:nvSpPr>
        <p:spPr>
          <a:xfrm>
            <a:off x="6441877" y="6347460"/>
            <a:ext cx="723304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changes overlap, Git flags conflicts requiring manual resolution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30618"/>
            <a:ext cx="498883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Hands-On Exercises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2133243"/>
            <a:ext cx="6462117" cy="4965740"/>
          </a:xfrm>
          <a:prstGeom prst="roundRect">
            <a:avLst>
              <a:gd name="adj" fmla="val 572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5477" y="2330410"/>
            <a:ext cx="310907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Task 1: Initialize and Commit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5477" y="2755821"/>
            <a:ext cx="6067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 the basic Git workflow with these steps: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55477" y="3172778"/>
            <a:ext cx="6067782" cy="1411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 new folder and initialize Git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a text file with some content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the file and commit with a message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 your commit with git log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55477" y="4797981"/>
            <a:ext cx="6067782" cy="2103834"/>
          </a:xfrm>
          <a:prstGeom prst="roundRect">
            <a:avLst>
              <a:gd name="adj" fmla="val 13517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946071" y="4797981"/>
            <a:ext cx="6086594" cy="2103834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135618" y="4940141"/>
            <a:ext cx="5707499" cy="181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mkdir my-project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 my-project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"Hello World" &gt; README.txt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README.txt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README"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09974" y="2133243"/>
            <a:ext cx="6462117" cy="4965740"/>
          </a:xfrm>
          <a:prstGeom prst="roundRect">
            <a:avLst>
              <a:gd name="adj" fmla="val 572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07141" y="2330410"/>
            <a:ext cx="282975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Task 2: Branch and Merge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07141" y="2755821"/>
            <a:ext cx="6067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 branching workflow with these steps: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607141" y="3172778"/>
            <a:ext cx="6067782" cy="1411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 new feature branch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Modify the README file in the branch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Commit your changes</a:t>
            </a:r>
            <a:endParaRPr lang="en-US" sz="1450" dirty="0"/>
          </a:p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Switch back to main and merge the branch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607141" y="4797981"/>
            <a:ext cx="6067782" cy="2103834"/>
          </a:xfrm>
          <a:prstGeom prst="roundRect">
            <a:avLst>
              <a:gd name="adj" fmla="val 13517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597735" y="4797981"/>
            <a:ext cx="6086594" cy="2103834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7787283" y="4940141"/>
            <a:ext cx="5707499" cy="181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new-feature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new-feature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"New feature" &gt;&gt; README.txt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-am "Add feature to README"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new-feature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2026-03-16T14:38:39Z</dcterms:created>
  <dcterms:modified xsi:type="dcterms:W3CDTF">2026-03-16T14:38:39Z</dcterms:modified>
</cp:coreProperties>
</file>